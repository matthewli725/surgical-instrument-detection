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TrayGuard. We spent two quarters looking at why surgical trays</a:t>
            </a:r>
          </a:p>
          <a:p>
            <a:r>
              <a:t>    arrive wrong or incomplete, and what a team like ours can actually do</a:t>
            </a:r>
          </a:p>
          <a:p>
            <a:r>
              <a:t>    about it. The answer turned out to be more interesting --- and more</a:t>
            </a:r>
          </a:p>
          <a:p>
            <a:r>
              <a:t>    frustrating --- than a camera-based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different methods --- tray defect analysis, direct OR observation,</a:t>
            </a:r>
          </a:p>
          <a:p>
            <a:r>
              <a:t>    package inspection --- all find the same thing: instruments are missing,</a:t>
            </a:r>
          </a:p>
          <a:p>
            <a:r>
              <a:t>    wrong, damaged, or swapped at rates that affect every shift, every hospital.</a:t>
            </a:r>
          </a:p>
          <a:p>
            <a:r>
              <a:t>    When delays happen, they average 10 minutes per affected case. That doesn't</a:t>
            </a:r>
          </a:p>
          <a:p>
            <a:r>
              <a:t>    sound huge until you multiply by thousands of cases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tray reconstruction looks like. A technician gets a bin</a:t>
            </a:r>
          </a:p>
          <a:p>
            <a:r>
              <a:t>    of returned instruments mixed together from the last surgery and has to</a:t>
            </a:r>
          </a:p>
          <a:p>
            <a:r>
              <a:t>    identify each one, check for damage, match to a count sheet that may use</a:t>
            </a:r>
          </a:p>
          <a:p>
            <a:r>
              <a:t>    local names, and place it correctly. No labels. Local names. Time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a fishbone RCA across six categories: Product, Knowledge,</a:t>
            </a:r>
          </a:p>
          <a:p>
            <a:r>
              <a:t>    Process, Information, Environment, Policy/Feedback. Underneath all six,</a:t>
            </a:r>
          </a:p>
          <a:p>
            <a:r>
              <a:t>    three structural drivers explain why these problems persist. SPD evolved</a:t>
            </a:r>
          </a:p>
          <a:p>
            <a:r>
              <a:t>    from materials management, not patient care, so there's no licensure.</a:t>
            </a:r>
          </a:p>
          <a:p>
            <a:r>
              <a:t>    Hospital accounting treats SPD as a cost center -- error costs are</a:t>
            </a:r>
          </a:p>
          <a:p>
            <a:r>
              <a:t>    invisible. And there's no information system to close the feedback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feedback loop that doesn't close. An instrument is missing</a:t>
            </a:r>
          </a:p>
          <a:p>
            <a:r>
              <a:t>    during surgery. The scrub nurse fills an incident report on paper after the</a:t>
            </a:r>
          </a:p>
          <a:p>
            <a:r>
              <a:t>    case. It reaches SPD management weeks later. By then nobody can connect it</a:t>
            </a:r>
          </a:p>
          <a:p>
            <a:r>
              <a:t>    to the specific tray, shift, or training gap. So nothing changes. Even a</a:t>
            </a:r>
          </a:p>
          <a:p>
            <a:r>
              <a:t>    perfect detector wouldn't fix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mapped every intervention category in the literature and industry.</a:t>
            </a:r>
          </a:p>
          <a:p>
            <a:r>
              <a:t>    Every one requires something we don't have: SPD deployment, policy</a:t>
            </a:r>
          </a:p>
          <a:p>
            <a:r>
              <a:t>    authority, instrument inventory, or multi-stakeholder buy-in. Training is</a:t>
            </a:r>
          </a:p>
          <a:p>
            <a:r>
              <a:t>    the only category buildable with printed cards and a laptop, validatable</a:t>
            </a:r>
          </a:p>
          <a:p>
            <a:r>
              <a:t>    with a pre/post study, and creates durable infrastructure -- the local</a:t>
            </a:r>
          </a:p>
          <a:p>
            <a:r>
              <a:t>    content module -- that future solutions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need to be clear about what training does and doesn't do. It helps</a:t>
            </a:r>
          </a:p>
          <a:p>
            <a:r>
              <a:t>    novices practice and produces measurable evidence. But it won't fix broken</a:t>
            </a:r>
          </a:p>
          <a:p>
            <a:r>
              <a:t>    count sheets, solve staffing shortages, or close the feedback loop. Those</a:t>
            </a:r>
          </a:p>
          <a:p>
            <a:r>
              <a:t>    are structural problems. Training is the one piece we can validate without</a:t>
            </a:r>
          </a:p>
          <a:p>
            <a:r>
              <a:t>    a hospital partnership.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a complete YOLO training pipeline. On a clean dataset we got</a:t>
            </a:r>
          </a:p>
          <a:p>
            <a:r>
              <a:t>    mAP50 of 0.990. The pipeline works. The problem is what happens when you</a:t>
            </a:r>
          </a:p>
          <a:p>
            <a:r>
              <a:t>    test on conditions SPD workstations actually present. Every variation cost</a:t>
            </a:r>
          </a:p>
          <a:p>
            <a:r>
              <a:t>    accuracy. The biggest drop -- overlay layout -- produced mAP50-95 of 0.389.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plot shows what happens as the light gap widens. Left: trained on</a:t>
            </a:r>
          </a:p>
          <a:p>
            <a:r>
              <a:t>    darkest, tested on brighter. Right: trained on brightest, tested on dimmer.</a:t>
            </a:r>
          </a:p>
          <a:p>
            <a:r>
              <a:t>    SPD lighting varies by workstation, time of day, fixture condition. Every</a:t>
            </a:r>
          </a:p>
          <a:p>
            <a:r>
              <a:t>    variation costs detection reliability.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separated layout -- what you'd train on. Right: overlay -- what</a:t>
            </a:r>
          </a:p>
          <a:p>
            <a:r>
              <a:t>    a real tray looks like. When we trained separated and tested on overlay,</a:t>
            </a:r>
          </a:p>
          <a:p>
            <a:r>
              <a:t>    mAP50-95 dropped from 0.995 to 0.389. You'd need to ask the technician to</a:t>
            </a:r>
          </a:p>
          <a:p>
            <a:r>
              <a:t>    rearrange before scanning, which defeats the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diagnostic. Per-class AP ranges from 0.000 to 0.862 depending</a:t>
            </a:r>
          </a:p>
          <a:p>
            <a:r>
              <a:t>    on the split. Different classes survive in different splits because the</a:t>
            </a:r>
          </a:p>
          <a:p>
            <a:r>
              <a:t>    model memorizes positions, not shapes. The only class that transfers is</a:t>
            </a:r>
          </a:p>
          <a:p>
            <a:r>
              <a:t>    scalpel -- the most visually distinct. This isn't fixable with more data</a:t>
            </a:r>
          </a:p>
          <a:p>
            <a:r>
              <a:t>    alone; you'd need randomized 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CV works in matched controlled conditions and degrades under every SPD</a:t>
            </a:r>
          </a:p>
          <a:p>
            <a:r>
              <a:t>    variation. A deployment-grade system needs site-specific data for every</a:t>
            </a:r>
          </a:p>
          <a:p>
            <a:r>
              <a:t>    hospital, cross-manufacturer validation, open-set rejection, human review,</a:t>
            </a:r>
          </a:p>
          <a:p>
            <a:r>
              <a:t>    and regulatory clearance. We cannot responsibly build that in a quarter.</a:t>
            </a:r>
          </a:p>
          <a:p>
            <a:r>
              <a:t>    The pivot was driven by this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Building a CV tray checker without a training layer means no ground</a:t>
            </a:r>
          </a:p>
          <a:p>
            <a:r>
              <a:t>    truth. You don't know the correct names, aliases, or lookalike pairs.</a:t>
            </a:r>
          </a:p>
          <a:p>
            <a:r>
              <a:t>    The training loop builds and validates all of that at low cost. Once you</a:t>
            </a:r>
          </a:p>
          <a:p>
            <a:r>
              <a:t>    have a validated module, that same data feeds any future CV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durable output. The fields mirror real count-sheet</a:t>
            </a:r>
          </a:p>
          <a:p>
            <a:r>
              <a:t>    structure from Stryker's published sheets. The software prototype is</a:t>
            </a:r>
          </a:p>
          <a:p>
            <a:r>
              <a:t>    throwaway -- future teams will choose their own stack -- but this schema</a:t>
            </a:r>
          </a:p>
          <a:p>
            <a:r>
              <a:t>    captures the local tray knowledge that any solution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instrument gets a printed card. The front has an AprilTag with no</a:t>
            </a:r>
          </a:p>
          <a:p>
            <a:r>
              <a:t>    text, so during a test the learner can't read the answer off the card. The</a:t>
            </a:r>
          </a:p>
          <a:p>
            <a:r>
              <a:t>    back has name, aliases, and features for study mode. The learner places</a:t>
            </a:r>
          </a:p>
          <a:p>
            <a:r>
              <a:t>    cards on a table, the camera detects them, and the scoring engine compares</a:t>
            </a:r>
          </a:p>
          <a:p>
            <a:r>
              <a:t>    against the tray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six categories map directly to the literature. Zhu's 44\% wrong</a:t>
            </a:r>
          </a:p>
          <a:p>
            <a:r>
              <a:t>    specification -- that's misidentified. Alfred's missing, wrong, extra,</a:t>
            </a:r>
          </a:p>
          <a:p>
            <a:r>
              <a:t>    damaged -- we capture all of them. When a learner improves, we can say</a:t>
            </a:r>
          </a:p>
          <a:p>
            <a:r>
              <a:t>    which type of error they reduced.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each tray sort, the learner rates confidence. This separates</a:t>
            </a:r>
          </a:p>
          <a:p>
            <a:r>
              <a:t>    two failure modes: high-confidence errors (overconfidence, hardest to</a:t>
            </a:r>
          </a:p>
          <a:p>
            <a:r>
              <a:t>    correct) and low-confidence correct answers (fragile knowledge). Both</a:t>
            </a:r>
          </a:p>
          <a:p>
            <a:r>
              <a:t>    are visible in the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has an evidence-based role. Pre/post use parallel variants</a:t>
            </a:r>
          </a:p>
          <a:p>
            <a:r>
              <a:t>    so learners can't memorize exact layouts. Study cards are prompt-before-</a:t>
            </a:r>
          </a:p>
          <a:p>
            <a:r>
              <a:t>    reveal -- retrieval practice, not passive review. Practice sort gives</a:t>
            </a:r>
          </a:p>
          <a:p>
            <a:r>
              <a:t>    immediate error feedback. The full loop takes 45-60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That's the research question this design answers. Not "does TrayGuard</a:t>
            </a:r>
          </a:p>
          <a:p>
            <a:r>
              <a:t>    reduce OR delays." Not "does it certify competence." It's: can a novice</a:t>
            </a:r>
          </a:p>
          <a:p>
            <a:r>
              <a:t>    improve on a simulated tray task after retrieval-centered practice? That's</a:t>
            </a:r>
          </a:p>
          <a:p>
            <a:r>
              <a:t>    a question we can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validates a different piece of the evidence chain. Step 1</a:t>
            </a:r>
          </a:p>
          <a:p>
            <a:r>
              <a:t>    ensures the measurement tool works. Step 2 tests learning mechanism. Step 3</a:t>
            </a:r>
          </a:p>
          <a:p>
            <a:r>
              <a:t>    checks retention at 7 days. Step 4 brings in an expert. Only after all four</a:t>
            </a:r>
          </a:p>
          <a:p>
            <a:r>
              <a:t>    should someone invest in an SPD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novice study uses a within-subject pre/post design. 8-12</a:t>
            </a:r>
          </a:p>
          <a:p>
            <a:r>
              <a:t>    participants with no SPD experience. Primary measures: pre/post accuracy,</a:t>
            </a:r>
          </a:p>
          <a:p>
            <a:r>
              <a:t>    error categories, duration, confidence. Convergent photo-ID test</a:t>
            </a:r>
          </a:p>
          <a:p>
            <a:r>
              <a:t>    correlates tray accuracy with photo identification (target r $\ge$ 0.50).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Same-day post-test can't be called retention. Bell et al. showed</a:t>
            </a:r>
          </a:p>
          <a:p>
            <a:r>
              <a:t>    medical gains decay measurably within 7 days. We require three</a:t>
            </a:r>
          </a:p>
          <a:p>
            <a:r>
              <a:t>    falsification criteria: retain half the gain, stay above baseline, and</a:t>
            </a:r>
          </a:p>
          <a:p>
            <a:r>
              <a:t>    70\% return rate. If these fail, we report immediate learning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don't work in an SPD. An instructor or SPD educator needs to</a:t>
            </a:r>
          </a:p>
          <a:p>
            <a:r>
              <a:t>    review names, counts, distractors, and feedback. If they say the module</a:t>
            </a:r>
          </a:p>
          <a:p>
            <a:r>
              <a:t>    is plausible, we proceed to an SPD pilot. If they find problems, we fix</a:t>
            </a:r>
          </a:p>
          <a:p>
            <a:r>
              <a:t>    them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novice study shows learning, retention persists, and content</a:t>
            </a:r>
          </a:p>
          <a:p>
            <a:r>
              <a:t>    is plausible, then investing in an SPD pilot is justified. If it fails,</a:t>
            </a:r>
          </a:p>
          <a:p>
            <a:r>
              <a:t>    the problem may be harder than training alone can solve -- and that's</a:t>
            </a:r>
          </a:p>
          <a:p>
            <a:r>
              <a:t>    useful evidence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sums up what we accomplished. We didn't build a deployable</a:t>
            </a:r>
          </a:p>
          <a:p>
            <a:r>
              <a:t>    product. We built an evidence-backed argument for the right starting</a:t>
            </a:r>
          </a:p>
          <a:p>
            <a:r>
              <a:t>    point, designed the measurement infrastructure, and left a testable</a:t>
            </a:r>
          </a:p>
          <a:p>
            <a:r>
              <a:t>   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thinking we'd build a camera that catches tray errors. We</a:t>
            </a:r>
          </a:p>
          <a:p>
            <a:r>
              <a:t>    ended up understanding that tray errors are a system problem rooted in how</a:t>
            </a:r>
          </a:p>
          <a:p>
            <a:r>
              <a:t>    the SPD workforce is structured, funded, and connected to the OR. A camera</a:t>
            </a:r>
          </a:p>
          <a:p>
            <a:r>
              <a:t>    can't fix that. Training alone can't fix wage stagnation or staffing gaps.</a:t>
            </a:r>
          </a:p>
          <a:p>
            <a:r>
              <a:t>    But a training loop can create the infrastructure every future solution</a:t>
            </a:r>
          </a:p>
          <a:p>
            <a:r>
              <a:t>    needs. Our honest recommendation: take the schema, protocol, and criteria.</a:t>
            </a:r>
          </a:p>
          <a:p>
            <a:r>
              <a:t>    Run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